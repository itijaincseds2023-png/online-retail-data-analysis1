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tudio.google.com/s/gw2dubRLrc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Online Retail Sales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Business Problem</a:t>
            </a:r>
          </a:p>
          <a:p>
            <a:pPr>
              <a:spcAft>
                <a:spcPts val="1100"/>
              </a:spcAft>
              <a:defRPr sz="1900"/>
            </a:pPr>
            <a:r>
              <a:t>• Understand overall sales and revenue performance.</a:t>
            </a:r>
          </a:p>
          <a:p>
            <a:pPr>
              <a:spcAft>
                <a:spcPts val="1100"/>
              </a:spcAft>
              <a:defRPr sz="1900"/>
            </a:pPr>
            <a:r>
              <a:t>• Identify high-performing products and countries.</a:t>
            </a:r>
          </a:p>
          <a:p>
            <a:pPr>
              <a:spcAft>
                <a:spcPts val="1100"/>
              </a:spcAft>
              <a:defRPr sz="1900"/>
            </a:pPr>
            <a:r>
              <a:t>• Analyze monthly sales and cancellation patterns.</a:t>
            </a:r>
          </a:p>
          <a:p>
            <a:pPr>
              <a:spcAft>
                <a:spcPts val="1100"/>
              </a:spcAft>
              <a:defRPr sz="1900"/>
            </a:pPr>
            <a:r>
              <a:t>• Goal: support better sales, inventory and customer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Dataset: UCI Online Retail II</a:t>
            </a:r>
          </a:p>
          <a:p>
            <a:pPr>
              <a:spcAft>
                <a:spcPts val="1100"/>
              </a:spcAft>
              <a:defRPr sz="1900"/>
            </a:pPr>
            <a:r>
              <a:t>• 1,067,371 transaction records and 8 columns.</a:t>
            </a:r>
          </a:p>
          <a:p>
            <a:pPr>
              <a:spcAft>
                <a:spcPts val="1100"/>
              </a:spcAft>
              <a:defRPr sz="1900"/>
            </a:pPr>
            <a:r>
              <a:t>• Data processed using Python / Pandas.</a:t>
            </a:r>
          </a:p>
          <a:p>
            <a:pPr>
              <a:spcAft>
                <a:spcPts val="1100"/>
              </a:spcAft>
              <a:defRPr sz="1900"/>
            </a:pPr>
            <a:r>
              <a:t>• Removed exact duplicate records.</a:t>
            </a:r>
          </a:p>
          <a:p>
            <a:pPr>
              <a:spcAft>
                <a:spcPts val="1100"/>
              </a:spcAft>
              <a:defRPr sz="1900"/>
            </a:pPr>
            <a:r>
              <a:t>• Handled missing descriptions and identified missing Customer IDs.</a:t>
            </a:r>
          </a:p>
          <a:p>
            <a:pPr>
              <a:spcAft>
                <a:spcPts val="1100"/>
              </a:spcAft>
              <a:defRPr sz="1900"/>
            </a:pPr>
            <a:r>
              <a:t>• Created Sales Value = Quantity × Price and a cancellation flag.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November was the strongest revenue month in both years.</a:t>
            </a:r>
          </a:p>
          <a:p>
            <a:pPr>
              <a:spcAft>
                <a:spcPts val="1100"/>
              </a:spcAft>
              <a:defRPr sz="1900"/>
            </a:pPr>
            <a:r>
              <a:t>• November 2010 revenue: £1.42M; November 2011: £1.46M.</a:t>
            </a:r>
          </a:p>
          <a:p>
            <a:pPr>
              <a:spcAft>
                <a:spcPts val="1100"/>
              </a:spcAft>
              <a:defRPr sz="1900"/>
            </a:pPr>
            <a:r>
              <a:t>• UK generated the highest revenue: £15.99M.</a:t>
            </a:r>
          </a:p>
          <a:p>
            <a:pPr>
              <a:spcAft>
                <a:spcPts val="1100"/>
              </a:spcAft>
              <a:defRPr sz="1900"/>
            </a:pPr>
            <a:r>
              <a:t>• Regency Cake Stand 3 Tier was the highest-revenue product: £314,045.</a:t>
            </a:r>
          </a:p>
          <a:p>
            <a:pPr>
              <a:spcAft>
                <a:spcPts val="1100"/>
              </a:spcAft>
              <a:defRPr sz="1900"/>
            </a:pPr>
            <a:r>
              <a:t>• Revenue is concentrated among a small number of high-value customers.</a:t>
            </a:r>
          </a:p>
          <a:p>
            <a:pPr>
              <a:spcAft>
                <a:spcPts val="1100"/>
              </a:spcAft>
              <a:defRPr sz="1900"/>
            </a:pPr>
            <a:r>
              <a:t>• Cancellation activity was also high in several peak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Deep Dive: Trends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Monthly trend: revenue repeatedly rises strongly in November.</a:t>
            </a:r>
          </a:p>
          <a:p>
            <a:pPr>
              <a:spcAft>
                <a:spcPts val="1100"/>
              </a:spcAft>
              <a:defRPr sz="1900"/>
            </a:pPr>
            <a:r>
              <a:t>• Product performance: a few products contribute substantially more revenue.</a:t>
            </a:r>
          </a:p>
          <a:p>
            <a:pPr>
              <a:spcAft>
                <a:spcPts val="1100"/>
              </a:spcAft>
              <a:defRPr sz="1900"/>
            </a:pPr>
            <a:r>
              <a:t>• Geography: UK revenue is far ahead of other countries.</a:t>
            </a:r>
          </a:p>
          <a:p>
            <a:pPr>
              <a:spcAft>
                <a:spcPts val="1100"/>
              </a:spcAft>
              <a:defRPr sz="1900"/>
            </a:pPr>
            <a:r>
              <a:t>• Customer performance: top customers contribute significant revenue.</a:t>
            </a:r>
          </a:p>
          <a:p>
            <a:pPr>
              <a:spcAft>
                <a:spcPts val="1100"/>
              </a:spcAft>
              <a:defRPr sz="1900"/>
            </a:pPr>
            <a:r>
              <a:t>• Cancellation pattern: November 2010 recorded 1,417 cancellation/return rows.</a:t>
            </a:r>
          </a:p>
          <a:p>
            <a:pPr>
              <a:spcAft>
                <a:spcPts val="1100"/>
              </a:spcAft>
              <a:defRPr sz="1900"/>
            </a:pPr>
            <a:r>
              <a:t>• December 2011 is only partially covered because the dataset ends on 09-Dec-2011.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1. Prepare inventory and marketing ahead of November.</a:t>
            </a:r>
          </a:p>
          <a:p>
            <a:pPr>
              <a:spcAft>
                <a:spcPts val="1100"/>
              </a:spcAft>
              <a:defRPr sz="1900"/>
            </a:pPr>
            <a:r>
              <a:t>• Owner: Sales &amp; Inventory | Metric: November revenue and stockout rate.</a:t>
            </a:r>
          </a:p>
          <a:p>
            <a:pPr>
              <a:spcAft>
                <a:spcPts val="1100"/>
              </a:spcAft>
              <a:defRPr sz="1900"/>
            </a:pPr>
            <a:r>
              <a:t>• 2. Focus retention efforts on high-value customers.</a:t>
            </a:r>
          </a:p>
          <a:p>
            <a:pPr>
              <a:spcAft>
                <a:spcPts val="1100"/>
              </a:spcAft>
              <a:defRPr sz="1900"/>
            </a:pPr>
            <a:r>
              <a:t>• Owner: Sales / CRM | Metric: repeat purchase rate and high-value customer revenue.</a:t>
            </a:r>
          </a:p>
          <a:p>
            <a:pPr>
              <a:spcAft>
                <a:spcPts val="1100"/>
              </a:spcAft>
              <a:defRPr sz="1900"/>
            </a:pPr>
            <a:r>
              <a:t>• 3. Investigate products and periods with high cancellation activity.</a:t>
            </a:r>
          </a:p>
          <a:p>
            <a:pPr>
              <a:spcAft>
                <a:spcPts val="1100"/>
              </a:spcAft>
              <a:defRPr sz="1900"/>
            </a:pPr>
            <a:r>
              <a:t>• Owner: Operations / Product | Metric: cancellation/return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Better inventory planning during peak demand periods.</a:t>
            </a:r>
          </a:p>
          <a:p>
            <a:pPr>
              <a:spcAft>
                <a:spcPts val="1100"/>
              </a:spcAft>
              <a:defRPr sz="1900"/>
            </a:pPr>
            <a:r>
              <a:t>• Higher revenue capture by prioritizing strong-performing products.</a:t>
            </a:r>
          </a:p>
          <a:p>
            <a:pPr>
              <a:spcAft>
                <a:spcPts val="1100"/>
              </a:spcAft>
              <a:defRPr sz="1900"/>
            </a:pPr>
            <a:r>
              <a:t>• Improved retention of high-value customers.</a:t>
            </a:r>
          </a:p>
          <a:p>
            <a:pPr>
              <a:spcAft>
                <a:spcPts val="1100"/>
              </a:spcAft>
              <a:defRPr sz="1900"/>
            </a:pPr>
            <a:r>
              <a:t>• Lower avoidable cancellations and returns.</a:t>
            </a:r>
          </a:p>
          <a:p>
            <a:pPr>
              <a:spcAft>
                <a:spcPts val="1100"/>
              </a:spcAft>
              <a:defRPr sz="1900"/>
            </a:pPr>
            <a:r>
              <a:t>• More focused management decisions using measurable KPIs.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Expected Business Impact &amp; Dashboard</a:t>
            </a:r>
          </a:p>
        </p:txBody>
      </p:sp>
      <p:pic>
        <p:nvPicPr>
          <p:cNvPr id="5" name="Picture 4" descr="Screenshot 2026-09-11 153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10789920" cy="5434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/>
            </a:pPr>
            <a:r>
              <a:t>• Many transactions have missing Customer IDs, limiting customer-level analysis.</a:t>
            </a:r>
          </a:p>
          <a:p>
            <a:pPr>
              <a:spcAft>
                <a:spcPts val="1100"/>
              </a:spcAft>
              <a:defRPr sz="1900"/>
            </a:pPr>
            <a:r>
              <a:t>• Exact duplicates were removed, but other data-quality risks may remain.</a:t>
            </a:r>
          </a:p>
          <a:p>
            <a:pPr>
              <a:spcAft>
                <a:spcPts val="1100"/>
              </a:spcAft>
              <a:defRPr sz="1900"/>
            </a:pPr>
            <a:r>
              <a:t>• Negative-quantity transactions were separated from normal sales.</a:t>
            </a:r>
          </a:p>
          <a:p>
            <a:pPr>
              <a:spcAft>
                <a:spcPts val="1100"/>
              </a:spcAft>
              <a:defRPr sz="1900"/>
            </a:pPr>
            <a:r>
              <a:t>• December 2011 cannot be treated as a complete month.</a:t>
            </a:r>
          </a:p>
          <a:p>
            <a:pPr>
              <a:spcAft>
                <a:spcPts val="1100"/>
              </a:spcAft>
              <a:defRPr sz="1900"/>
            </a:pPr>
            <a:r>
              <a:t>• Next: investigate cancellation drivers, validate product patterns and monitor KPIs.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rPr>
                <a:hlinkClick r:id="rId2"/>
              </a:rPr>
              <a:t>Dashboard Link: https://datastudio.google.com/s/gw2dubRLrcg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